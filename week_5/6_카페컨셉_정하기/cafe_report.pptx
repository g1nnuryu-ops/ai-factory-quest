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3728"/>
              </a:solidFill>
              <a:ln w="25400" cap="flat">
                <a:solidFill>
                  <a:srgbClr val="F7F2E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0894C"/>
              </a:solidFill>
              <a:ln w="25400" cap="flat">
                <a:solidFill>
                  <a:srgbClr val="F7F2E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F8F66"/>
              </a:solidFill>
              <a:ln w="25400" cap="flat">
                <a:solidFill>
                  <a:srgbClr val="F7F2E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디저트</c:v>
                </c:pt>
                <c:pt idx="2">
                  <c:v>원두판매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1474</c:v>
                </c:pt>
                <c:pt idx="1">
                  <c:v>607</c:v>
                </c:pt>
                <c:pt idx="2">
                  <c:v>224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457200"/>
            <a:ext cx="4297680" cy="4297680"/>
          </a:xfrm>
          <a:prstGeom prst="ellipse">
            <a:avLst/>
          </a:prstGeom>
          <a:solidFill>
            <a:srgbClr val="C089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1051560"/>
            <a:ext cx="3108960" cy="3108960"/>
          </a:xfrm>
          <a:prstGeom prst="ellipse">
            <a:avLst/>
          </a:prstGeom>
          <a:solidFill>
            <a:srgbClr val="2B2019"/>
          </a:solidFill>
          <a:ln w="15875">
            <a:solidFill>
              <a:srgbClr val="C0894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1783080"/>
            <a:ext cx="1645920" cy="1645920"/>
          </a:xfrm>
          <a:prstGeom prst="ellipse">
            <a:avLst/>
          </a:prstGeom>
          <a:solidFill>
            <a:srgbClr val="C0894C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8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1분기 실적 보고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카페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76656" y="2761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D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아이는 놀고, 어른은 쉬고.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4944" y="3401568"/>
            <a:ext cx="566928" cy="32004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29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3–5월 운영 결과 정리  ·  2분기 실행안 제안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590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(Noldam) · 키즈 브런치 카페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4590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0584" cy="475488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&amp; 핵심 질문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카페 1분기(3–5월) 운영 결과를 정리하고, 2분기 실행 방향을 제안합니다.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보고가 답할 두 가지 질문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68880"/>
            <a:ext cx="603504" cy="603504"/>
          </a:xfrm>
          <a:prstGeom prst="ellipse">
            <a:avLst/>
          </a:prstGeom>
          <a:solidFill>
            <a:srgbClr val="C089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매출을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끌어올렸나?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성장의 동력 — 무엇이 통했는지 확인합니다.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2468880"/>
            <a:ext cx="603504" cy="603504"/>
          </a:xfrm>
          <a:prstGeom prst="ellipse">
            <a:avLst/>
          </a:prstGeom>
          <a:solidFill>
            <a:srgbClr val="C0894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6048" y="3200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어디에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투자할까?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56048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 자원 배분의 우선순위를 정합니다.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· 2026 Q1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0584" cy="475488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286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 실적 분석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3–5월 성장 흐름과 매출 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실적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만원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39319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24128"/>
                <a:gridCol w="1024128"/>
                <a:gridCol w="10149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7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7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7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7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A37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A37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A37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A37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2,305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B201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1,563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6F8F6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177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매출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343400" y="1554480"/>
          <a:ext cx="23317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892040" y="22128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총매출
</a:t>
            </a:r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2,305만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03720" y="1819656"/>
            <a:ext cx="155448" cy="155448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2" name="Text 8"/>
          <p:cNvSpPr/>
          <p:nvPr/>
        </p:nvSpPr>
        <p:spPr>
          <a:xfrm>
            <a:off x="7178040" y="1709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음료  </a:t>
            </a:r>
            <a:pPr indent="0" marL="0">
              <a:buNone/>
            </a:pPr>
            <a:r>
              <a:rPr lang="en-US" sz="130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78040" y="1965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1,474만원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03720" y="2386584"/>
            <a:ext cx="155448" cy="155448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15" name="Text 11"/>
          <p:cNvSpPr/>
          <p:nvPr/>
        </p:nvSpPr>
        <p:spPr>
          <a:xfrm>
            <a:off x="7178040" y="22768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 </a:t>
            </a:r>
            <a:pPr indent="0" marL="0">
              <a:buNone/>
            </a:pPr>
            <a:r>
              <a:rPr lang="en-US" sz="130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26%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178040" y="2532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607만원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903720" y="2953512"/>
            <a:ext cx="155448" cy="155448"/>
          </a:xfrm>
          <a:prstGeom prst="rect">
            <a:avLst/>
          </a:prstGeom>
          <a:solidFill>
            <a:srgbClr val="6F8F66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040" y="2843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원두판매  </a:t>
            </a:r>
            <a:pPr indent="0" marL="0">
              <a:buNone/>
            </a:pPr>
            <a:r>
              <a:rPr lang="en-US" sz="130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178040" y="30998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224만원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37673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3767328"/>
            <a:ext cx="82296" cy="914400"/>
          </a:xfrm>
          <a:prstGeom prst="rect">
            <a:avLst/>
          </a:prstGeom>
          <a:solidFill>
            <a:srgbClr val="6F8F66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8F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+10~15%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85800" y="4315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 성장 (MoM, 3→5월)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246120" y="37673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46120" y="3767328"/>
            <a:ext cx="82296" cy="914400"/>
          </a:xfrm>
          <a:prstGeom prst="rect">
            <a:avLst/>
          </a:prstGeom>
          <a:solidFill>
            <a:srgbClr val="6F8F66"/>
          </a:solidFill>
          <a:ln/>
        </p:spPr>
      </p:sp>
      <p:sp>
        <p:nvSpPr>
          <p:cNvPr id="26" name="Text 22"/>
          <p:cNvSpPr/>
          <p:nvPr/>
        </p:nvSpPr>
        <p:spPr>
          <a:xfrm>
            <a:off x="347472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8F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29% → 35%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3474720" y="4315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 개선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35040" y="37673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035040" y="3767328"/>
            <a:ext cx="82296" cy="914400"/>
          </a:xfrm>
          <a:prstGeom prst="rect">
            <a:avLst/>
          </a:prstGeom>
          <a:solidFill>
            <a:srgbClr val="A8703A"/>
          </a:solidFill>
          <a:ln/>
        </p:spPr>
      </p:sp>
      <p:sp>
        <p:nvSpPr>
          <p:cNvPr id="30" name="Text 26"/>
          <p:cNvSpPr/>
          <p:nvPr/>
        </p:nvSpPr>
        <p:spPr>
          <a:xfrm>
            <a:off x="626364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음료 64%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6263640" y="4315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디저트·원두 확대 여지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0584" cy="475488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017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 추천 전략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분석에서 도출한 세 가지 실행 전략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55648"/>
            <a:ext cx="658368" cy="658368"/>
          </a:xfrm>
          <a:prstGeom prst="ellipse">
            <a:avLst/>
          </a:prstGeom>
          <a:solidFill>
            <a:srgbClr val="C0894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세트 메뉴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992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구성으로 객단가를 높이고, 음료 편중 구조를 완화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4041648"/>
            <a:ext cx="2148840" cy="329184"/>
          </a:xfrm>
          <a:prstGeom prst="rect">
            <a:avLst/>
          </a:prstGeom>
          <a:solidFill>
            <a:srgbClr val="EFE6D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041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· 객단가 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481328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755648"/>
            <a:ext cx="658368" cy="658368"/>
          </a:xfrm>
          <a:prstGeom prst="ellipse">
            <a:avLst/>
          </a:prstGeom>
          <a:solidFill>
            <a:srgbClr val="C0894C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02152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확대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02152" y="29992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인플루언서 협업으로 신규 고객 유입 (→ '홍보' 퀘스트)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02152" y="4041648"/>
            <a:ext cx="2148840" cy="329184"/>
          </a:xfrm>
          <a:prstGeom prst="rect">
            <a:avLst/>
          </a:prstGeom>
          <a:solidFill>
            <a:srgbClr val="EFE6D6"/>
          </a:solidFill>
          <a:ln/>
        </p:spPr>
      </p:sp>
      <p:sp>
        <p:nvSpPr>
          <p:cNvPr id="18" name="Text 16"/>
          <p:cNvSpPr/>
          <p:nvPr/>
        </p:nvSpPr>
        <p:spPr>
          <a:xfrm>
            <a:off x="3502152" y="4041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· 신규 유입 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1481328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8C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755648"/>
            <a:ext cx="658368" cy="658368"/>
          </a:xfrm>
          <a:prstGeom prst="ellipse">
            <a:avLst/>
          </a:prstGeom>
          <a:solidFill>
            <a:srgbClr val="C0894C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91072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7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원두 정기구독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91072" y="29992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소량 베타로 반복·구독 매출의 가능성을 테스트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91072" y="4041648"/>
            <a:ext cx="2148840" cy="329184"/>
          </a:xfrm>
          <a:prstGeom prst="rect">
            <a:avLst/>
          </a:prstGeom>
          <a:solidFill>
            <a:srgbClr val="EFE6D6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4041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· 재구매 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· 2026 Q1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0584" cy="475488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93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액션 — 6월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6월에 바로 실행할 세 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2542032"/>
            <a:ext cx="5486400" cy="0"/>
          </a:xfrm>
          <a:prstGeom prst="line">
            <a:avLst/>
          </a:prstGeom>
          <a:noFill/>
          <a:ln w="22225">
            <a:solidFill>
              <a:srgbClr val="C0894C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세트 2종 출시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99616" y="2212848"/>
            <a:ext cx="658368" cy="658368"/>
          </a:xfrm>
          <a:prstGeom prst="ellipse">
            <a:avLst/>
          </a:prstGeom>
          <a:solidFill>
            <a:srgbClr val="C0894C"/>
          </a:solidFill>
          <a:ln w="19050">
            <a:solidFill>
              <a:srgbClr val="F7F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08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 상승 견인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 3명 컨택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42816" y="2212848"/>
            <a:ext cx="658368" cy="658368"/>
          </a:xfrm>
          <a:prstGeom prst="ellipse">
            <a:avLst/>
          </a:prstGeom>
          <a:solidFill>
            <a:srgbClr val="C0894C"/>
          </a:solidFill>
          <a:ln w="19050">
            <a:solidFill>
              <a:srgbClr val="F7F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08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고객 유입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원두 구독 베타 오픈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86016" y="2212848"/>
            <a:ext cx="658368" cy="658368"/>
          </a:xfrm>
          <a:prstGeom prst="ellipse">
            <a:avLst/>
          </a:prstGeom>
          <a:solidFill>
            <a:srgbClr val="C0894C"/>
          </a:solidFill>
          <a:ln w="19050">
            <a:solidFill>
              <a:srgbClr val="F7F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08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매출 테스트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3977640"/>
            <a:ext cx="640080" cy="25603"/>
          </a:xfrm>
          <a:prstGeom prst="rect">
            <a:avLst/>
          </a:prstGeom>
          <a:solidFill>
            <a:srgbClr val="C0894C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D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아이는 놀고, 어른은 쉬고.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놀담 카페 · 2026 Q1 Report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놀담 카페 2026 1분기 실적 보고</dc:title>
  <dc:subject>PptxGenJS Presentation</dc:subject>
  <dc:creator>놀담 카페</dc:creator>
  <cp:lastModifiedBy>놀담 카페</cp:lastModifiedBy>
  <cp:revision>1</cp:revision>
  <dcterms:created xsi:type="dcterms:W3CDTF">2026-07-03T03:27:13Z</dcterms:created>
  <dcterms:modified xsi:type="dcterms:W3CDTF">2026-07-03T03:27:13Z</dcterms:modified>
</cp:coreProperties>
</file>